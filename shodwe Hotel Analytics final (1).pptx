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6"/>
  </p:notesMasterIdLst>
  <p:sldIdLst>
    <p:sldId id="256" r:id="rId2"/>
    <p:sldId id="264" r:id="rId3"/>
    <p:sldId id="271" r:id="rId4"/>
    <p:sldId id="259" r:id="rId5"/>
    <p:sldId id="277" r:id="rId6"/>
    <p:sldId id="261" r:id="rId7"/>
    <p:sldId id="285" r:id="rId8"/>
    <p:sldId id="296" r:id="rId9"/>
    <p:sldId id="297" r:id="rId10"/>
    <p:sldId id="284" r:id="rId11"/>
    <p:sldId id="288" r:id="rId12"/>
    <p:sldId id="299" r:id="rId13"/>
    <p:sldId id="289" r:id="rId14"/>
    <p:sldId id="281" r:id="rId15"/>
  </p:sldIdLst>
  <p:sldSz cx="9144000" cy="5143500" type="screen16x9"/>
  <p:notesSz cx="6858000" cy="9144000"/>
  <p:embeddedFontLst>
    <p:embeddedFont>
      <p:font typeface="Baskerville Old Face" panose="02020602080505020303" pitchFamily="18" charset="0"/>
      <p:regular r:id="rId17"/>
    </p:embeddedFont>
    <p:embeddedFont>
      <p:font typeface="Bebas Neue" panose="020B0606020202050201" pitchFamily="34" charset="0"/>
      <p:regular r:id="rId18"/>
    </p:embeddedFont>
    <p:embeddedFont>
      <p:font typeface="Cinzel Decorative" panose="020B0604020202020204" charset="0"/>
      <p:regular r:id="rId19"/>
      <p:bold r:id="rId20"/>
    </p:embeddedFont>
    <p:embeddedFont>
      <p:font typeface="Josefin Sans Light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535F"/>
    <a:srgbClr val="406978"/>
    <a:srgbClr val="787450"/>
    <a:srgbClr val="4D132F"/>
    <a:srgbClr val="221D43"/>
    <a:srgbClr val="5E0229"/>
    <a:srgbClr val="0000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EEB7D-DD4B-454D-89C7-BB86DA6E1BD5}">
  <a:tblStyle styleId="{D79EEB7D-DD4B-454D-89C7-BB86DA6E1B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3c3303c24d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3c3303c24d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3d4f2fa33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3d4f2fa33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2bd18d42a5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2bd18d42a5_0_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3cf8a203ee_0_9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13cf8a203ee_0_9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f22d1adf3d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f22d1adf3d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3c3303c24d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3c3303c24d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480703FA-C9F6-E6FB-8614-26B4CEE96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d362d286f3_1_31:notes">
            <a:extLst>
              <a:ext uri="{FF2B5EF4-FFF2-40B4-BE49-F238E27FC236}">
                <a16:creationId xmlns:a16="http://schemas.microsoft.com/office/drawing/2014/main" id="{61B0CE2D-8F3E-60DD-F565-C8A0A2AFF7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d362d286f3_1_31:notes">
            <a:extLst>
              <a:ext uri="{FF2B5EF4-FFF2-40B4-BE49-F238E27FC236}">
                <a16:creationId xmlns:a16="http://schemas.microsoft.com/office/drawing/2014/main" id="{77AC8F31-B5DC-85BE-0E1F-315A9C534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3901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047C7148-2501-0F8B-262A-B4E4DDCB6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d362d286f3_1_31:notes">
            <a:extLst>
              <a:ext uri="{FF2B5EF4-FFF2-40B4-BE49-F238E27FC236}">
                <a16:creationId xmlns:a16="http://schemas.microsoft.com/office/drawing/2014/main" id="{EDBAA727-79BD-B05B-C758-A7EBE12545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d362d286f3_1_31:notes">
            <a:extLst>
              <a:ext uri="{FF2B5EF4-FFF2-40B4-BE49-F238E27FC236}">
                <a16:creationId xmlns:a16="http://schemas.microsoft.com/office/drawing/2014/main" id="{0CAED021-4CBA-655D-FFEC-756546E03F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2664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>
          <a:extLst>
            <a:ext uri="{FF2B5EF4-FFF2-40B4-BE49-F238E27FC236}">
              <a16:creationId xmlns:a16="http://schemas.microsoft.com/office/drawing/2014/main" id="{FA6E7CDF-1E4B-E82B-D766-6A204223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d362d286f3_1_31:notes">
            <a:extLst>
              <a:ext uri="{FF2B5EF4-FFF2-40B4-BE49-F238E27FC236}">
                <a16:creationId xmlns:a16="http://schemas.microsoft.com/office/drawing/2014/main" id="{C2B36A87-E6B1-7ED3-DB93-D587D07C95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d362d286f3_1_31:notes">
            <a:extLst>
              <a:ext uri="{FF2B5EF4-FFF2-40B4-BE49-F238E27FC236}">
                <a16:creationId xmlns:a16="http://schemas.microsoft.com/office/drawing/2014/main" id="{BA2122D4-87A6-7E37-F721-48DBC796C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7566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d362d286f3_1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d362d286f3_1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520150" y="1535075"/>
            <a:ext cx="39405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40775" y="3602425"/>
            <a:ext cx="4462500" cy="4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15200" y="221500"/>
            <a:ext cx="8313600" cy="4694650"/>
            <a:chOff x="415200" y="221500"/>
            <a:chExt cx="8313600" cy="4694650"/>
          </a:xfrm>
        </p:grpSpPr>
        <p:cxnSp>
          <p:nvCxnSpPr>
            <p:cNvPr id="12" name="Google Shape;12;p2"/>
            <p:cNvCxnSpPr/>
            <p:nvPr/>
          </p:nvCxnSpPr>
          <p:spPr>
            <a:xfrm rot="-5400000">
              <a:off x="294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-5400000">
              <a:off x="83430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" name="Google Shape;14;p2"/>
            <p:cNvGrpSpPr/>
            <p:nvPr/>
          </p:nvGrpSpPr>
          <p:grpSpPr>
            <a:xfrm>
              <a:off x="2804975" y="221500"/>
              <a:ext cx="3559250" cy="104700"/>
              <a:chOff x="2805000" y="488200"/>
              <a:chExt cx="3559250" cy="1047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" name="Google Shape;16;p2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2804975" y="4811450"/>
              <a:ext cx="3559250" cy="104700"/>
              <a:chOff x="2805000" y="488200"/>
              <a:chExt cx="3559250" cy="1047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>
            <a:spLocks noGrp="1"/>
          </p:cNvSpPr>
          <p:nvPr>
            <p:ph type="subTitle" idx="1"/>
          </p:nvPr>
        </p:nvSpPr>
        <p:spPr>
          <a:xfrm>
            <a:off x="720000" y="2571700"/>
            <a:ext cx="3470100" cy="14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720000" y="972975"/>
            <a:ext cx="34701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381300" y="0"/>
            <a:ext cx="2762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1372968" y="2445988"/>
            <a:ext cx="2743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2"/>
          </p:nvPr>
        </p:nvSpPr>
        <p:spPr>
          <a:xfrm>
            <a:off x="5027843" y="2445988"/>
            <a:ext cx="2743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>
            <a:off x="1372968" y="3069806"/>
            <a:ext cx="2743200" cy="10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5027843" y="3069806"/>
            <a:ext cx="2743200" cy="10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2804975" y="221500"/>
            <a:ext cx="3559250" cy="104700"/>
            <a:chOff x="2805000" y="488200"/>
            <a:chExt cx="3559250" cy="104700"/>
          </a:xfrm>
        </p:grpSpPr>
        <p:sp>
          <p:nvSpPr>
            <p:cNvPr id="48" name="Google Shape;48;p5"/>
            <p:cNvSpPr/>
            <p:nvPr/>
          </p:nvSpPr>
          <p:spPr>
            <a:xfrm>
              <a:off x="4519675" y="488200"/>
              <a:ext cx="104700" cy="1047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9" name="Google Shape;49;p5"/>
            <p:cNvCxnSpPr/>
            <p:nvPr/>
          </p:nvCxnSpPr>
          <p:spPr>
            <a:xfrm rot="10800000">
              <a:off x="2805000" y="540550"/>
              <a:ext cx="1557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10800000">
              <a:off x="4782050" y="540550"/>
              <a:ext cx="1582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6"/>
          <p:cNvGrpSpPr/>
          <p:nvPr/>
        </p:nvGrpSpPr>
        <p:grpSpPr>
          <a:xfrm>
            <a:off x="2804975" y="221500"/>
            <a:ext cx="3559250" cy="104700"/>
            <a:chOff x="2805000" y="488200"/>
            <a:chExt cx="3559250" cy="104700"/>
          </a:xfrm>
        </p:grpSpPr>
        <p:sp>
          <p:nvSpPr>
            <p:cNvPr id="54" name="Google Shape;54;p6"/>
            <p:cNvSpPr/>
            <p:nvPr/>
          </p:nvSpPr>
          <p:spPr>
            <a:xfrm>
              <a:off x="4519675" y="488200"/>
              <a:ext cx="104700" cy="1047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5" name="Google Shape;55;p6"/>
            <p:cNvCxnSpPr/>
            <p:nvPr/>
          </p:nvCxnSpPr>
          <p:spPr>
            <a:xfrm rot="10800000">
              <a:off x="2805000" y="540550"/>
              <a:ext cx="1557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6"/>
            <p:cNvCxnSpPr/>
            <p:nvPr/>
          </p:nvCxnSpPr>
          <p:spPr>
            <a:xfrm rot="10800000">
              <a:off x="4782050" y="540550"/>
              <a:ext cx="1582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972850" y="1307100"/>
            <a:ext cx="71982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415200" y="221500"/>
            <a:ext cx="8313600" cy="4694650"/>
            <a:chOff x="415200" y="221500"/>
            <a:chExt cx="8313600" cy="4694650"/>
          </a:xfrm>
        </p:grpSpPr>
        <p:cxnSp>
          <p:nvCxnSpPr>
            <p:cNvPr id="67" name="Google Shape;67;p8"/>
            <p:cNvCxnSpPr/>
            <p:nvPr/>
          </p:nvCxnSpPr>
          <p:spPr>
            <a:xfrm rot="-5400000">
              <a:off x="294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68;p8"/>
            <p:cNvCxnSpPr/>
            <p:nvPr/>
          </p:nvCxnSpPr>
          <p:spPr>
            <a:xfrm rot="-5400000">
              <a:off x="83430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9" name="Google Shape;69;p8"/>
            <p:cNvGrpSpPr/>
            <p:nvPr/>
          </p:nvGrpSpPr>
          <p:grpSpPr>
            <a:xfrm>
              <a:off x="2804975" y="221500"/>
              <a:ext cx="3559250" cy="104700"/>
              <a:chOff x="2805000" y="488200"/>
              <a:chExt cx="3559250" cy="104700"/>
            </a:xfrm>
          </p:grpSpPr>
          <p:sp>
            <p:nvSpPr>
              <p:cNvPr id="70" name="Google Shape;70;p8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1" name="Google Shape;71;p8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8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3" name="Google Shape;73;p8"/>
            <p:cNvGrpSpPr/>
            <p:nvPr/>
          </p:nvGrpSpPr>
          <p:grpSpPr>
            <a:xfrm>
              <a:off x="2804975" y="4811450"/>
              <a:ext cx="3559250" cy="104700"/>
              <a:chOff x="2805000" y="488200"/>
              <a:chExt cx="3559250" cy="104700"/>
            </a:xfrm>
          </p:grpSpPr>
          <p:sp>
            <p:nvSpPr>
              <p:cNvPr id="74" name="Google Shape;74;p8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5" name="Google Shape;75;p8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8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3532600" y="1210875"/>
            <a:ext cx="4891500" cy="18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3532600" y="3219250"/>
            <a:ext cx="48915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0" y="0"/>
            <a:ext cx="1771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540000"/>
            <a:ext cx="6576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6" name="Google Shape;96;p11"/>
          <p:cNvSpPr txBox="1">
            <a:spLocks noGrp="1"/>
          </p:cNvSpPr>
          <p:nvPr>
            <p:ph type="subTitle" idx="1"/>
          </p:nvPr>
        </p:nvSpPr>
        <p:spPr>
          <a:xfrm>
            <a:off x="1284000" y="1963050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97" name="Google Shape;97;p11"/>
          <p:cNvGrpSpPr/>
          <p:nvPr/>
        </p:nvGrpSpPr>
        <p:grpSpPr>
          <a:xfrm>
            <a:off x="415200" y="221500"/>
            <a:ext cx="8313600" cy="2736050"/>
            <a:chOff x="415200" y="221500"/>
            <a:chExt cx="8313600" cy="2736050"/>
          </a:xfrm>
        </p:grpSpPr>
        <p:grpSp>
          <p:nvGrpSpPr>
            <p:cNvPr id="98" name="Google Shape;98;p11"/>
            <p:cNvGrpSpPr/>
            <p:nvPr/>
          </p:nvGrpSpPr>
          <p:grpSpPr>
            <a:xfrm>
              <a:off x="2804975" y="221500"/>
              <a:ext cx="3559250" cy="104700"/>
              <a:chOff x="2805000" y="488200"/>
              <a:chExt cx="3559250" cy="104700"/>
            </a:xfrm>
          </p:grpSpPr>
          <p:sp>
            <p:nvSpPr>
              <p:cNvPr id="99" name="Google Shape;99;p11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0" name="Google Shape;100;p11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11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" name="Google Shape;102;p11"/>
            <p:cNvGrpSpPr/>
            <p:nvPr/>
          </p:nvGrpSpPr>
          <p:grpSpPr>
            <a:xfrm>
              <a:off x="415200" y="2185950"/>
              <a:ext cx="8313600" cy="771600"/>
              <a:chOff x="415200" y="2185950"/>
              <a:chExt cx="8313600" cy="771600"/>
            </a:xfrm>
          </p:grpSpPr>
          <p:cxnSp>
            <p:nvCxnSpPr>
              <p:cNvPr id="103" name="Google Shape;103;p11"/>
              <p:cNvCxnSpPr/>
              <p:nvPr/>
            </p:nvCxnSpPr>
            <p:spPr>
              <a:xfrm rot="-5400000">
                <a:off x="29400" y="2571750"/>
                <a:ext cx="771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11"/>
              <p:cNvCxnSpPr/>
              <p:nvPr/>
            </p:nvCxnSpPr>
            <p:spPr>
              <a:xfrm rot="-5400000">
                <a:off x="8343000" y="2571750"/>
                <a:ext cx="771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23"/>
          <p:cNvGrpSpPr/>
          <p:nvPr/>
        </p:nvGrpSpPr>
        <p:grpSpPr>
          <a:xfrm>
            <a:off x="415200" y="221500"/>
            <a:ext cx="8313600" cy="4694650"/>
            <a:chOff x="415200" y="221500"/>
            <a:chExt cx="8313600" cy="4694650"/>
          </a:xfrm>
        </p:grpSpPr>
        <p:cxnSp>
          <p:nvCxnSpPr>
            <p:cNvPr id="242" name="Google Shape;242;p23"/>
            <p:cNvCxnSpPr/>
            <p:nvPr/>
          </p:nvCxnSpPr>
          <p:spPr>
            <a:xfrm rot="-5400000">
              <a:off x="294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3" name="Google Shape;243;p23"/>
            <p:cNvCxnSpPr/>
            <p:nvPr/>
          </p:nvCxnSpPr>
          <p:spPr>
            <a:xfrm rot="-5400000">
              <a:off x="83430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4" name="Google Shape;244;p23"/>
            <p:cNvGrpSpPr/>
            <p:nvPr/>
          </p:nvGrpSpPr>
          <p:grpSpPr>
            <a:xfrm>
              <a:off x="2804975" y="221500"/>
              <a:ext cx="3559250" cy="104700"/>
              <a:chOff x="2805000" y="488200"/>
              <a:chExt cx="3559250" cy="104700"/>
            </a:xfrm>
          </p:grpSpPr>
          <p:sp>
            <p:nvSpPr>
              <p:cNvPr id="245" name="Google Shape;245;p23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6" name="Google Shape;246;p23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7" name="Google Shape;247;p23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8" name="Google Shape;248;p23"/>
            <p:cNvGrpSpPr/>
            <p:nvPr/>
          </p:nvGrpSpPr>
          <p:grpSpPr>
            <a:xfrm>
              <a:off x="2804975" y="4811450"/>
              <a:ext cx="3559250" cy="104700"/>
              <a:chOff x="2805000" y="488200"/>
              <a:chExt cx="3559250" cy="104700"/>
            </a:xfrm>
          </p:grpSpPr>
          <p:sp>
            <p:nvSpPr>
              <p:cNvPr id="249" name="Google Shape;249;p23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50" name="Google Shape;250;p23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1" name="Google Shape;251;p23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4"/>
          <p:cNvGrpSpPr/>
          <p:nvPr/>
        </p:nvGrpSpPr>
        <p:grpSpPr>
          <a:xfrm>
            <a:off x="2804975" y="221500"/>
            <a:ext cx="3559250" cy="104700"/>
            <a:chOff x="2805000" y="488200"/>
            <a:chExt cx="3559250" cy="104700"/>
          </a:xfrm>
        </p:grpSpPr>
        <p:sp>
          <p:nvSpPr>
            <p:cNvPr id="254" name="Google Shape;254;p24"/>
            <p:cNvSpPr/>
            <p:nvPr/>
          </p:nvSpPr>
          <p:spPr>
            <a:xfrm>
              <a:off x="4519675" y="488200"/>
              <a:ext cx="104700" cy="1047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5" name="Google Shape;255;p24"/>
            <p:cNvCxnSpPr/>
            <p:nvPr/>
          </p:nvCxnSpPr>
          <p:spPr>
            <a:xfrm rot="10800000">
              <a:off x="2805000" y="540550"/>
              <a:ext cx="1557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24"/>
            <p:cNvCxnSpPr/>
            <p:nvPr/>
          </p:nvCxnSpPr>
          <p:spPr>
            <a:xfrm rot="10800000">
              <a:off x="4782050" y="540550"/>
              <a:ext cx="1582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  <a:defRPr sz="3000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Char char="■"/>
              <a:defRPr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7" r:id="rId7"/>
    <p:sldLayoutId id="2147483658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121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>
            <a:spLocks noGrp="1"/>
          </p:cNvSpPr>
          <p:nvPr>
            <p:ph type="ctrTitle"/>
          </p:nvPr>
        </p:nvSpPr>
        <p:spPr>
          <a:xfrm>
            <a:off x="1520150" y="1535075"/>
            <a:ext cx="39405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shodwe</a:t>
            </a:r>
            <a:endParaRPr b="1" dirty="0"/>
          </a:p>
        </p:txBody>
      </p:sp>
      <p:sp>
        <p:nvSpPr>
          <p:cNvPr id="269" name="Google Shape;269;p28"/>
          <p:cNvSpPr txBox="1">
            <a:spLocks noGrp="1"/>
          </p:cNvSpPr>
          <p:nvPr>
            <p:ph type="subTitle" idx="1"/>
          </p:nvPr>
        </p:nvSpPr>
        <p:spPr>
          <a:xfrm>
            <a:off x="3847575" y="2129754"/>
            <a:ext cx="3133500" cy="80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 </a:t>
            </a:r>
            <a:r>
              <a:rPr lang="en" sz="6000" b="1" dirty="0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HoteL</a:t>
            </a:r>
            <a:endParaRPr sz="2900" b="1" dirty="0"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cxnSp>
        <p:nvCxnSpPr>
          <p:cNvPr id="270" name="Google Shape;270;p28"/>
          <p:cNvCxnSpPr/>
          <p:nvPr/>
        </p:nvCxnSpPr>
        <p:spPr>
          <a:xfrm>
            <a:off x="2585475" y="2568825"/>
            <a:ext cx="1234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Subtitle 4">
            <a:extLst>
              <a:ext uri="{FF2B5EF4-FFF2-40B4-BE49-F238E27FC236}">
                <a16:creationId xmlns:a16="http://schemas.microsoft.com/office/drawing/2014/main" id="{AFABCAE8-B123-B3AC-321A-FF23793EC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9499" y="4256568"/>
            <a:ext cx="5031576" cy="439800"/>
          </a:xfrm>
        </p:spPr>
        <p:txBody>
          <a:bodyPr/>
          <a:lstStyle/>
          <a:p>
            <a:r>
              <a:rPr lang="en-US" dirty="0"/>
              <a:t>HOSPITALITY ANALYTICS</a:t>
            </a:r>
            <a:endParaRPr lang="en-IN" dirty="0"/>
          </a:p>
        </p:txBody>
      </p:sp>
      <p:sp>
        <p:nvSpPr>
          <p:cNvPr id="8" name="Google Shape;269;p28">
            <a:extLst>
              <a:ext uri="{FF2B5EF4-FFF2-40B4-BE49-F238E27FC236}">
                <a16:creationId xmlns:a16="http://schemas.microsoft.com/office/drawing/2014/main" id="{A8E31F62-C82E-E1B9-9258-C48F1BBDDC23}"/>
              </a:ext>
            </a:extLst>
          </p:cNvPr>
          <p:cNvSpPr txBox="1">
            <a:spLocks/>
          </p:cNvSpPr>
          <p:nvPr/>
        </p:nvSpPr>
        <p:spPr>
          <a:xfrm>
            <a:off x="2407938" y="3193161"/>
            <a:ext cx="4140429" cy="98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  <a:defRPr sz="16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osefin Sans Light"/>
              <a:buNone/>
              <a:defRPr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osefin Sans Light"/>
              <a:buNone/>
              <a:defRPr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osefin Sans Light"/>
              <a:buNone/>
              <a:defRPr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osefin Sans Light"/>
              <a:buNone/>
              <a:defRPr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osefin Sans Light"/>
              <a:buNone/>
              <a:defRPr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osefin Sans Light"/>
              <a:buNone/>
              <a:defRPr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osefin Sans Light"/>
              <a:buNone/>
              <a:defRPr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osefin Sans Light"/>
              <a:buNone/>
              <a:defRPr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9pPr>
          </a:lstStyle>
          <a:p>
            <a:pPr marL="0" indent="0">
              <a:lnSpc>
                <a:spcPct val="90000"/>
              </a:lnSpc>
            </a:pPr>
            <a:r>
              <a:rPr lang="en-IN" sz="6000" dirty="0">
                <a:latin typeface="Baskerville Old Face" panose="02020602080505020303" pitchFamily="18" charset="0"/>
                <a:ea typeface="Cinzel Decorative"/>
                <a:cs typeface="Cinzel Decorative"/>
                <a:sym typeface="Cinzel Decorative"/>
              </a:rPr>
              <a:t> </a:t>
            </a:r>
            <a:r>
              <a:rPr lang="en-IN" sz="3600" dirty="0">
                <a:latin typeface="Baskerville Old Face" panose="02020602080505020303" pitchFamily="18" charset="0"/>
                <a:ea typeface="Cinzel Decorative"/>
                <a:cs typeface="Cinzel Decorative"/>
                <a:sym typeface="Cinzel Decorative"/>
              </a:rPr>
              <a:t>Group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F067A3-7717-FAA6-D7A8-FD0728AAA9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53893" y="93134"/>
            <a:ext cx="2404641" cy="3391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5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6;p30">
            <a:extLst>
              <a:ext uri="{FF2B5EF4-FFF2-40B4-BE49-F238E27FC236}">
                <a16:creationId xmlns:a16="http://schemas.microsoft.com/office/drawing/2014/main" id="{21F1605F-EFB3-119E-142B-0E32C3EDBC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71610" y="1608365"/>
            <a:ext cx="3639683" cy="2530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inzel Decorative"/>
              <a:buNone/>
              <a:defRPr sz="22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morant Garamond"/>
              <a:buNone/>
              <a:defRPr sz="24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morant Garamond"/>
              <a:buNone/>
              <a:defRPr sz="24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morant Garamond"/>
              <a:buNone/>
              <a:defRPr sz="24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morant Garamond"/>
              <a:buNone/>
              <a:defRPr sz="24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morant Garamond"/>
              <a:buNone/>
              <a:defRPr sz="24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morant Garamond"/>
              <a:buNone/>
              <a:defRPr sz="24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morant Garamond"/>
              <a:buNone/>
              <a:defRPr sz="24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rmorant Garamond"/>
              <a:buNone/>
              <a:defRPr sz="24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9pPr>
          </a:lstStyle>
          <a:p>
            <a:r>
              <a:rPr lang="en-IN" sz="1800" dirty="0">
                <a:solidFill>
                  <a:schemeClr val="bg2"/>
                </a:solidFill>
              </a:rPr>
              <a:t>5) Vikrant banode</a:t>
            </a:r>
            <a:br>
              <a:rPr lang="en-IN" sz="1800" dirty="0">
                <a:solidFill>
                  <a:schemeClr val="bg2"/>
                </a:solidFill>
              </a:rPr>
            </a:br>
            <a:r>
              <a:rPr lang="en-IN" sz="1800" dirty="0">
                <a:solidFill>
                  <a:schemeClr val="bg2"/>
                </a:solidFill>
              </a:rPr>
              <a:t> </a:t>
            </a:r>
            <a:br>
              <a:rPr lang="en-IN" sz="1800" dirty="0">
                <a:solidFill>
                  <a:schemeClr val="bg2"/>
                </a:solidFill>
              </a:rPr>
            </a:br>
            <a:r>
              <a:rPr lang="en-IN" sz="1800" dirty="0">
                <a:solidFill>
                  <a:schemeClr val="bg2"/>
                </a:solidFill>
              </a:rPr>
              <a:t>6) Santosh abithan</a:t>
            </a:r>
            <a:br>
              <a:rPr lang="en-IN" sz="1800" dirty="0">
                <a:solidFill>
                  <a:schemeClr val="bg2"/>
                </a:solidFill>
              </a:rPr>
            </a:br>
            <a:r>
              <a:rPr lang="en-IN" sz="1800" dirty="0">
                <a:solidFill>
                  <a:schemeClr val="bg2"/>
                </a:solidFill>
              </a:rPr>
              <a:t> </a:t>
            </a:r>
            <a:br>
              <a:rPr lang="en-IN" sz="1800" dirty="0">
                <a:solidFill>
                  <a:schemeClr val="bg2"/>
                </a:solidFill>
              </a:rPr>
            </a:br>
            <a:r>
              <a:rPr lang="en-IN" sz="1800" dirty="0">
                <a:solidFill>
                  <a:schemeClr val="bg2"/>
                </a:solidFill>
              </a:rPr>
              <a:t>7) swagatika satpathy</a:t>
            </a:r>
          </a:p>
        </p:txBody>
      </p:sp>
      <p:sp>
        <p:nvSpPr>
          <p:cNvPr id="3" name="Google Shape;286;p30">
            <a:extLst>
              <a:ext uri="{FF2B5EF4-FFF2-40B4-BE49-F238E27FC236}">
                <a16:creationId xmlns:a16="http://schemas.microsoft.com/office/drawing/2014/main" id="{034653D5-8970-9013-DEA6-192F5BC5838C}"/>
              </a:ext>
            </a:extLst>
          </p:cNvPr>
          <p:cNvSpPr txBox="1">
            <a:spLocks/>
          </p:cNvSpPr>
          <p:nvPr/>
        </p:nvSpPr>
        <p:spPr>
          <a:xfrm>
            <a:off x="432707" y="1608365"/>
            <a:ext cx="4408715" cy="2530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inzel Decorative"/>
              <a:buNone/>
              <a:defRPr sz="75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morant Garamond"/>
              <a:buNone/>
              <a:defRPr sz="6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morant Garamond"/>
              <a:buNone/>
              <a:defRPr sz="6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morant Garamond"/>
              <a:buNone/>
              <a:defRPr sz="6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morant Garamond"/>
              <a:buNone/>
              <a:defRPr sz="6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morant Garamond"/>
              <a:buNone/>
              <a:defRPr sz="6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morant Garamond"/>
              <a:buNone/>
              <a:defRPr sz="6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morant Garamond"/>
              <a:buNone/>
              <a:defRPr sz="6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ormorant Garamond"/>
              <a:buNone/>
              <a:defRPr sz="6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9pPr>
          </a:lstStyle>
          <a:p>
            <a:pPr algn="l"/>
            <a:r>
              <a:rPr lang="en-IN" sz="1800" dirty="0">
                <a:solidFill>
                  <a:schemeClr val="bg2"/>
                </a:solidFill>
              </a:rPr>
              <a:t>1) Adyasa Priyadarsini Acharya</a:t>
            </a:r>
            <a:br>
              <a:rPr lang="en-IN" sz="1800" dirty="0">
                <a:solidFill>
                  <a:schemeClr val="bg2"/>
                </a:solidFill>
              </a:rPr>
            </a:br>
            <a:br>
              <a:rPr lang="en-IN" sz="1800" dirty="0">
                <a:solidFill>
                  <a:schemeClr val="bg2"/>
                </a:solidFill>
              </a:rPr>
            </a:br>
            <a:r>
              <a:rPr lang="en-IN" sz="1800" dirty="0">
                <a:solidFill>
                  <a:schemeClr val="bg2"/>
                </a:solidFill>
              </a:rPr>
              <a:t>2) Snehlata Choubey </a:t>
            </a:r>
            <a:br>
              <a:rPr lang="en-IN" sz="1800" dirty="0">
                <a:solidFill>
                  <a:schemeClr val="bg2"/>
                </a:solidFill>
              </a:rPr>
            </a:br>
            <a:r>
              <a:rPr lang="en-IN" sz="1800" dirty="0">
                <a:solidFill>
                  <a:schemeClr val="bg2"/>
                </a:solidFill>
              </a:rPr>
              <a:t> </a:t>
            </a:r>
            <a:br>
              <a:rPr lang="en-IN" sz="1800" dirty="0">
                <a:solidFill>
                  <a:schemeClr val="bg2"/>
                </a:solidFill>
              </a:rPr>
            </a:br>
            <a:r>
              <a:rPr lang="en-IN" sz="1800" dirty="0">
                <a:solidFill>
                  <a:schemeClr val="bg2"/>
                </a:solidFill>
              </a:rPr>
              <a:t>3) Makala Deepak </a:t>
            </a:r>
            <a:br>
              <a:rPr lang="en-IN" sz="1800" dirty="0">
                <a:solidFill>
                  <a:schemeClr val="bg2"/>
                </a:solidFill>
              </a:rPr>
            </a:br>
            <a:r>
              <a:rPr lang="en-IN" sz="1800" dirty="0">
                <a:solidFill>
                  <a:schemeClr val="bg2"/>
                </a:solidFill>
              </a:rPr>
              <a:t> </a:t>
            </a:r>
            <a:br>
              <a:rPr lang="en-IN" sz="1800" dirty="0">
                <a:solidFill>
                  <a:schemeClr val="bg2"/>
                </a:solidFill>
              </a:rPr>
            </a:br>
            <a:r>
              <a:rPr lang="en-IN" sz="1800" dirty="0">
                <a:solidFill>
                  <a:schemeClr val="bg2"/>
                </a:solidFill>
              </a:rPr>
              <a:t>4) Saurabh Jondhale </a:t>
            </a:r>
          </a:p>
        </p:txBody>
      </p:sp>
      <p:sp>
        <p:nvSpPr>
          <p:cNvPr id="4" name="Google Shape;289;p30">
            <a:extLst>
              <a:ext uri="{FF2B5EF4-FFF2-40B4-BE49-F238E27FC236}">
                <a16:creationId xmlns:a16="http://schemas.microsoft.com/office/drawing/2014/main" id="{9DAF1443-B63C-967E-E620-2B3132FA4D97}"/>
              </a:ext>
            </a:extLst>
          </p:cNvPr>
          <p:cNvSpPr txBox="1">
            <a:spLocks/>
          </p:cNvSpPr>
          <p:nvPr/>
        </p:nvSpPr>
        <p:spPr>
          <a:xfrm>
            <a:off x="720000" y="398357"/>
            <a:ext cx="7704000" cy="720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N" sz="3600" b="1" dirty="0">
                <a:solidFill>
                  <a:schemeClr val="bg2"/>
                </a:solidFill>
                <a:latin typeface="Cinzel Decorative" panose="020B0604020202020204" charset="0"/>
              </a:rPr>
              <a:t>Team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0" t="-13000" b="-11000"/>
          </a:stretch>
        </a:blipFill>
        <a:effectLst/>
      </p:bgPr>
    </p:bg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3"/>
          <p:cNvSpPr txBox="1">
            <a:spLocks noGrp="1"/>
          </p:cNvSpPr>
          <p:nvPr>
            <p:ph type="title"/>
          </p:nvPr>
        </p:nvSpPr>
        <p:spPr>
          <a:xfrm>
            <a:off x="572640" y="405222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tx1"/>
                </a:solidFill>
              </a:rPr>
              <a:t>H</a:t>
            </a:r>
            <a:r>
              <a:rPr lang="en" b="1" dirty="0">
                <a:solidFill>
                  <a:schemeClr val="tx1"/>
                </a:solidFill>
              </a:rPr>
              <a:t>ospitality analytics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732" name="Google Shape;732;p43"/>
          <p:cNvSpPr txBox="1">
            <a:spLocks noGrp="1"/>
          </p:cNvSpPr>
          <p:nvPr>
            <p:ph type="title" idx="4294967295"/>
          </p:nvPr>
        </p:nvSpPr>
        <p:spPr>
          <a:xfrm>
            <a:off x="4212015" y="1322053"/>
            <a:ext cx="4050900" cy="45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inzel Decorative" panose="020B0604020202020204" charset="0"/>
              </a:rPr>
              <a:t>modules</a:t>
            </a:r>
            <a:endParaRPr lang="en-IN" sz="2200" dirty="0">
              <a:solidFill>
                <a:schemeClr val="dk1"/>
              </a:solidFill>
              <a:latin typeface="Cinzel Decorative" panose="020B0604020202020204" charset="0"/>
            </a:endParaRPr>
          </a:p>
        </p:txBody>
      </p:sp>
      <p:sp>
        <p:nvSpPr>
          <p:cNvPr id="741" name="Google Shape;741;p43"/>
          <p:cNvSpPr txBox="1">
            <a:spLocks noGrp="1"/>
          </p:cNvSpPr>
          <p:nvPr>
            <p:ph type="title" idx="4294967295"/>
          </p:nvPr>
        </p:nvSpPr>
        <p:spPr>
          <a:xfrm>
            <a:off x="4202864" y="2469614"/>
            <a:ext cx="1928700" cy="640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bg1">
                    <a:lumMod val="50000"/>
                  </a:schemeClr>
                </a:solidFill>
              </a:rPr>
              <a:t>excel</a:t>
            </a:r>
            <a:endParaRPr sz="2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2" name="Google Shape;742;p43"/>
          <p:cNvSpPr txBox="1">
            <a:spLocks noGrp="1"/>
          </p:cNvSpPr>
          <p:nvPr>
            <p:ph type="title" idx="4294967295"/>
          </p:nvPr>
        </p:nvSpPr>
        <p:spPr>
          <a:xfrm>
            <a:off x="6347940" y="2461625"/>
            <a:ext cx="1928700" cy="640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bg1">
                    <a:lumMod val="50000"/>
                  </a:schemeClr>
                </a:solidFill>
              </a:rPr>
              <a:t>sql</a:t>
            </a:r>
            <a:endParaRPr sz="2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3" name="Google Shape;743;p43"/>
          <p:cNvSpPr txBox="1">
            <a:spLocks noGrp="1"/>
          </p:cNvSpPr>
          <p:nvPr>
            <p:ph type="title" idx="4294967295"/>
          </p:nvPr>
        </p:nvSpPr>
        <p:spPr>
          <a:xfrm>
            <a:off x="4212015" y="3429914"/>
            <a:ext cx="1928700" cy="640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chemeClr val="bg1">
                    <a:lumMod val="50000"/>
                  </a:schemeClr>
                </a:solidFill>
              </a:rPr>
              <a:t>P</a:t>
            </a:r>
            <a:r>
              <a:rPr lang="en" sz="2200" b="1" dirty="0">
                <a:solidFill>
                  <a:schemeClr val="bg1">
                    <a:lumMod val="50000"/>
                  </a:schemeClr>
                </a:solidFill>
              </a:rPr>
              <a:t>ower bi</a:t>
            </a:r>
            <a:endParaRPr sz="2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4" name="Google Shape;744;p43"/>
          <p:cNvSpPr txBox="1">
            <a:spLocks noGrp="1"/>
          </p:cNvSpPr>
          <p:nvPr>
            <p:ph type="title" idx="4294967295"/>
          </p:nvPr>
        </p:nvSpPr>
        <p:spPr>
          <a:xfrm>
            <a:off x="6347940" y="3429914"/>
            <a:ext cx="1928700" cy="640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bg1">
                    <a:lumMod val="50000"/>
                  </a:schemeClr>
                </a:solidFill>
              </a:rPr>
              <a:t>tablue</a:t>
            </a:r>
            <a:endParaRPr sz="2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47" name="Google Shape;747;p43"/>
          <p:cNvCxnSpPr>
            <a:endCxn id="741" idx="3"/>
          </p:cNvCxnSpPr>
          <p:nvPr/>
        </p:nvCxnSpPr>
        <p:spPr>
          <a:xfrm rot="5400000">
            <a:off x="5910164" y="2462414"/>
            <a:ext cx="548700" cy="105900"/>
          </a:xfrm>
          <a:prstGeom prst="bent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8" name="Google Shape;748;p43"/>
          <p:cNvCxnSpPr>
            <a:endCxn id="743" idx="3"/>
          </p:cNvCxnSpPr>
          <p:nvPr/>
        </p:nvCxnSpPr>
        <p:spPr>
          <a:xfrm rot="5400000">
            <a:off x="5484915" y="2988314"/>
            <a:ext cx="1417500" cy="105900"/>
          </a:xfrm>
          <a:prstGeom prst="bent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0" name="Google Shape;750;p43"/>
          <p:cNvCxnSpPr>
            <a:stCxn id="732" idx="2"/>
            <a:endCxn id="742" idx="1"/>
          </p:cNvCxnSpPr>
          <p:nvPr/>
        </p:nvCxnSpPr>
        <p:spPr>
          <a:xfrm rot="16200000" flipH="1">
            <a:off x="5791466" y="2225251"/>
            <a:ext cx="1002472" cy="110475"/>
          </a:xfrm>
          <a:prstGeom prst="bent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1" name="Google Shape;751;p43"/>
          <p:cNvCxnSpPr>
            <a:endCxn id="744" idx="1"/>
          </p:cNvCxnSpPr>
          <p:nvPr/>
        </p:nvCxnSpPr>
        <p:spPr>
          <a:xfrm rot="-5400000" flipH="1">
            <a:off x="5586240" y="2988314"/>
            <a:ext cx="1417500" cy="105900"/>
          </a:xfrm>
          <a:prstGeom prst="bent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D43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>
            <a:spLocks noGrp="1"/>
          </p:cNvSpPr>
          <p:nvPr>
            <p:ph type="title"/>
          </p:nvPr>
        </p:nvSpPr>
        <p:spPr>
          <a:xfrm>
            <a:off x="3591117" y="92388"/>
            <a:ext cx="4891500" cy="12383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OverView</a:t>
            </a:r>
            <a:endParaRPr sz="4800" dirty="0"/>
          </a:p>
        </p:txBody>
      </p:sp>
      <p:sp>
        <p:nvSpPr>
          <p:cNvPr id="312" name="Google Shape;312;p31"/>
          <p:cNvSpPr txBox="1">
            <a:spLocks noGrp="1"/>
          </p:cNvSpPr>
          <p:nvPr>
            <p:ph type="subTitle" idx="1"/>
          </p:nvPr>
        </p:nvSpPr>
        <p:spPr>
          <a:xfrm>
            <a:off x="3450956" y="1179951"/>
            <a:ext cx="5513429" cy="36494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Hospitality Analytics helps hotels analyze bookings, revenue,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occupancy, and cancellations. The project uses SQL to extract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KPIs like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total revenue, occupancy rate, and cancellation trends . Excel dashboards provide pivot-based visualizations 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for quick performance tracking. Tableau dashboards deliver Interactive insights with city-wise, category-wise, and time-based analysis.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Power BI dashboards allow real-time monitoring with dynamic filters and drill downs. Overall, the project supports data-driven decision-making to boost efficiency and maximize revenue.</a:t>
            </a:r>
            <a:endParaRPr lang="en-US" altLang="en-US" dirty="0">
              <a:solidFill>
                <a:schemeClr val="tx1"/>
              </a:solidFill>
            </a:endParaRPr>
          </a:p>
        </p:txBody>
      </p:sp>
      <p:cxnSp>
        <p:nvCxnSpPr>
          <p:cNvPr id="315" name="Google Shape;315;p31"/>
          <p:cNvCxnSpPr>
            <a:cxnSpLocks/>
          </p:cNvCxnSpPr>
          <p:nvPr/>
        </p:nvCxnSpPr>
        <p:spPr>
          <a:xfrm>
            <a:off x="4425043" y="1056418"/>
            <a:ext cx="315957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91A2938-2C97-F7AB-C4F4-3DEAEDBE1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99" y="387600"/>
            <a:ext cx="2929736" cy="4368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535F"/>
        </a:solidFill>
        <a:effectLst/>
      </p:bgPr>
    </p:bg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49"/>
          <p:cNvSpPr txBox="1">
            <a:spLocks noGrp="1"/>
          </p:cNvSpPr>
          <p:nvPr>
            <p:ph type="subTitle" idx="4294967295"/>
          </p:nvPr>
        </p:nvSpPr>
        <p:spPr>
          <a:xfrm>
            <a:off x="720010" y="2027925"/>
            <a:ext cx="2397000" cy="54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indent="0" algn="ctr">
              <a:buClr>
                <a:schemeClr val="bg2"/>
              </a:buClr>
              <a:buNone/>
            </a:pPr>
            <a:r>
              <a:rPr lang="en-US" dirty="0">
                <a:solidFill>
                  <a:srgbClr val="000000"/>
                </a:solidFill>
                <a:latin typeface="Cinzel Decorative" panose="020B0604020202020204" charset="0"/>
              </a:rPr>
              <a:t>Total Revenue</a:t>
            </a:r>
          </a:p>
        </p:txBody>
      </p:sp>
      <p:sp>
        <p:nvSpPr>
          <p:cNvPr id="921" name="Google Shape;921;p49"/>
          <p:cNvSpPr txBox="1">
            <a:spLocks noGrp="1"/>
          </p:cNvSpPr>
          <p:nvPr>
            <p:ph type="subTitle" idx="4294967295"/>
          </p:nvPr>
        </p:nvSpPr>
        <p:spPr>
          <a:xfrm>
            <a:off x="6026995" y="2027925"/>
            <a:ext cx="2396995" cy="54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indent="0" algn="ctr">
              <a:buClr>
                <a:schemeClr val="bg2"/>
              </a:buClr>
              <a:buNone/>
            </a:pPr>
            <a:r>
              <a:rPr lang="en-US" dirty="0">
                <a:solidFill>
                  <a:srgbClr val="000000"/>
                </a:solidFill>
                <a:latin typeface="Cinzel Decorative" panose="020B0604020202020204" charset="0"/>
              </a:rPr>
              <a:t>Cancellation Rate</a:t>
            </a:r>
          </a:p>
        </p:txBody>
      </p:sp>
      <p:sp>
        <p:nvSpPr>
          <p:cNvPr id="924" name="Google Shape;924;p49"/>
          <p:cNvSpPr txBox="1">
            <a:spLocks noGrp="1"/>
          </p:cNvSpPr>
          <p:nvPr>
            <p:ph type="title"/>
          </p:nvPr>
        </p:nvSpPr>
        <p:spPr>
          <a:xfrm>
            <a:off x="2451716" y="401647"/>
            <a:ext cx="4235721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chemeClr val="bg2"/>
                </a:solidFill>
              </a:rPr>
              <a:t>K</a:t>
            </a:r>
            <a:r>
              <a:rPr lang="en" b="1" dirty="0">
                <a:solidFill>
                  <a:schemeClr val="bg2"/>
                </a:solidFill>
              </a:rPr>
              <a:t>pi’s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927" name="Google Shape;927;p49"/>
          <p:cNvSpPr/>
          <p:nvPr/>
        </p:nvSpPr>
        <p:spPr>
          <a:xfrm>
            <a:off x="4251895" y="1129725"/>
            <a:ext cx="640200" cy="640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49"/>
          <p:cNvSpPr txBox="1">
            <a:spLocks noGrp="1"/>
          </p:cNvSpPr>
          <p:nvPr>
            <p:ph type="subTitle" idx="4294967295"/>
          </p:nvPr>
        </p:nvSpPr>
        <p:spPr>
          <a:xfrm>
            <a:off x="3373495" y="2027925"/>
            <a:ext cx="2397000" cy="54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/>
          <a:p>
            <a:pPr marL="0" indent="0" algn="ctr">
              <a:buClr>
                <a:schemeClr val="bg2"/>
              </a:buClr>
              <a:buNone/>
            </a:pPr>
            <a:r>
              <a:rPr lang="en-US" dirty="0">
                <a:solidFill>
                  <a:srgbClr val="000000"/>
                </a:solidFill>
                <a:latin typeface="Cinzel Decorative" panose="020B0604020202020204" charset="0"/>
              </a:rPr>
              <a:t>Occupancy Rate</a:t>
            </a:r>
          </a:p>
        </p:txBody>
      </p:sp>
      <p:sp>
        <p:nvSpPr>
          <p:cNvPr id="2" name="Google Shape;920;p49">
            <a:extLst>
              <a:ext uri="{FF2B5EF4-FFF2-40B4-BE49-F238E27FC236}">
                <a16:creationId xmlns:a16="http://schemas.microsoft.com/office/drawing/2014/main" id="{A4EE76D0-E21B-7597-4BE1-8597848DE845}"/>
              </a:ext>
            </a:extLst>
          </p:cNvPr>
          <p:cNvSpPr txBox="1">
            <a:spLocks/>
          </p:cNvSpPr>
          <p:nvPr/>
        </p:nvSpPr>
        <p:spPr>
          <a:xfrm>
            <a:off x="2028419" y="4404657"/>
            <a:ext cx="2397000" cy="54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9pPr>
          </a:lstStyle>
          <a:p>
            <a:pPr marL="0" indent="0" algn="ctr">
              <a:buClr>
                <a:schemeClr val="bg2"/>
              </a:buClr>
              <a:buNone/>
            </a:pPr>
            <a:r>
              <a:rPr lang="en-US" dirty="0">
                <a:solidFill>
                  <a:srgbClr val="000000"/>
                </a:solidFill>
                <a:latin typeface="Cinzel Decorative" panose="020B0604020202020204" charset="0"/>
              </a:rPr>
              <a:t>Checked Out / Cancel / No Show</a:t>
            </a:r>
          </a:p>
        </p:txBody>
      </p:sp>
      <p:sp>
        <p:nvSpPr>
          <p:cNvPr id="3" name="Google Shape;920;p49">
            <a:extLst>
              <a:ext uri="{FF2B5EF4-FFF2-40B4-BE49-F238E27FC236}">
                <a16:creationId xmlns:a16="http://schemas.microsoft.com/office/drawing/2014/main" id="{2EF0422B-84F9-2C0B-AD84-9DE108EE1FFE}"/>
              </a:ext>
            </a:extLst>
          </p:cNvPr>
          <p:cNvSpPr txBox="1">
            <a:spLocks/>
          </p:cNvSpPr>
          <p:nvPr/>
        </p:nvSpPr>
        <p:spPr>
          <a:xfrm>
            <a:off x="720010" y="2841064"/>
            <a:ext cx="2397000" cy="54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9pPr>
          </a:lstStyle>
          <a:p>
            <a:pPr marL="0" indent="0" algn="ctr">
              <a:buClr>
                <a:schemeClr val="bg2"/>
              </a:buClr>
              <a:buNone/>
            </a:pPr>
            <a:r>
              <a:rPr lang="en-US" dirty="0">
                <a:solidFill>
                  <a:srgbClr val="000000"/>
                </a:solidFill>
                <a:latin typeface="Cinzel Decorative" panose="020B0604020202020204" charset="0"/>
              </a:rPr>
              <a:t>Total Bookings</a:t>
            </a:r>
          </a:p>
        </p:txBody>
      </p:sp>
      <p:sp>
        <p:nvSpPr>
          <p:cNvPr id="4" name="Google Shape;920;p49">
            <a:extLst>
              <a:ext uri="{FF2B5EF4-FFF2-40B4-BE49-F238E27FC236}">
                <a16:creationId xmlns:a16="http://schemas.microsoft.com/office/drawing/2014/main" id="{74DBAE61-3145-1E2B-D721-B778CCB3A298}"/>
              </a:ext>
            </a:extLst>
          </p:cNvPr>
          <p:cNvSpPr txBox="1">
            <a:spLocks/>
          </p:cNvSpPr>
          <p:nvPr/>
        </p:nvSpPr>
        <p:spPr>
          <a:xfrm>
            <a:off x="720010" y="3654203"/>
            <a:ext cx="2397000" cy="54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9pPr>
          </a:lstStyle>
          <a:p>
            <a:pPr marL="0" indent="0" algn="ctr">
              <a:buClr>
                <a:schemeClr val="bg2"/>
              </a:buClr>
              <a:buNone/>
            </a:pPr>
            <a:r>
              <a:rPr lang="en-US" sz="1200" dirty="0">
                <a:solidFill>
                  <a:srgbClr val="000000"/>
                </a:solidFill>
                <a:latin typeface="Cinzel Decorative" panose="020B0604020202020204" charset="0"/>
              </a:rPr>
              <a:t>Weekday &amp; Weekend Revenue and Booking</a:t>
            </a:r>
          </a:p>
        </p:txBody>
      </p:sp>
      <p:sp>
        <p:nvSpPr>
          <p:cNvPr id="5" name="Google Shape;920;p49">
            <a:extLst>
              <a:ext uri="{FF2B5EF4-FFF2-40B4-BE49-F238E27FC236}">
                <a16:creationId xmlns:a16="http://schemas.microsoft.com/office/drawing/2014/main" id="{BF98DA08-1EAE-96ED-01E7-D0FD57BA490F}"/>
              </a:ext>
            </a:extLst>
          </p:cNvPr>
          <p:cNvSpPr txBox="1">
            <a:spLocks/>
          </p:cNvSpPr>
          <p:nvPr/>
        </p:nvSpPr>
        <p:spPr>
          <a:xfrm>
            <a:off x="3371077" y="2847503"/>
            <a:ext cx="2397000" cy="54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9pPr>
          </a:lstStyle>
          <a:p>
            <a:pPr marL="0" indent="0" algn="ctr">
              <a:buClr>
                <a:schemeClr val="bg2"/>
              </a:buClr>
              <a:buNone/>
            </a:pPr>
            <a:r>
              <a:rPr lang="en-US" dirty="0">
                <a:solidFill>
                  <a:srgbClr val="000000"/>
                </a:solidFill>
                <a:latin typeface="Cinzel Decorative" panose="020B0604020202020204" charset="0"/>
              </a:rPr>
              <a:t>Utilized Capacity</a:t>
            </a:r>
          </a:p>
        </p:txBody>
      </p:sp>
      <p:sp>
        <p:nvSpPr>
          <p:cNvPr id="6" name="Google Shape;920;p49">
            <a:extLst>
              <a:ext uri="{FF2B5EF4-FFF2-40B4-BE49-F238E27FC236}">
                <a16:creationId xmlns:a16="http://schemas.microsoft.com/office/drawing/2014/main" id="{42EF74B9-B279-FF26-2F8F-02ECC5F1E212}"/>
              </a:ext>
            </a:extLst>
          </p:cNvPr>
          <p:cNvSpPr txBox="1">
            <a:spLocks/>
          </p:cNvSpPr>
          <p:nvPr/>
        </p:nvSpPr>
        <p:spPr>
          <a:xfrm>
            <a:off x="3373495" y="3654203"/>
            <a:ext cx="2397000" cy="54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9pPr>
          </a:lstStyle>
          <a:p>
            <a:pPr marL="0" indent="0" algn="ctr">
              <a:buClr>
                <a:schemeClr val="bg2"/>
              </a:buClr>
              <a:buNone/>
            </a:pPr>
            <a:r>
              <a:rPr lang="en-US" dirty="0">
                <a:solidFill>
                  <a:srgbClr val="000000"/>
                </a:solidFill>
                <a:latin typeface="Cinzel Decorative" panose="020B0604020202020204" charset="0"/>
              </a:rPr>
              <a:t>Revenue by State &amp; Hotel</a:t>
            </a:r>
          </a:p>
        </p:txBody>
      </p:sp>
      <p:sp>
        <p:nvSpPr>
          <p:cNvPr id="7" name="Google Shape;920;p49">
            <a:extLst>
              <a:ext uri="{FF2B5EF4-FFF2-40B4-BE49-F238E27FC236}">
                <a16:creationId xmlns:a16="http://schemas.microsoft.com/office/drawing/2014/main" id="{F3110A95-6B9A-8664-9D84-5FAD13EE77BA}"/>
              </a:ext>
            </a:extLst>
          </p:cNvPr>
          <p:cNvSpPr txBox="1">
            <a:spLocks/>
          </p:cNvSpPr>
          <p:nvPr/>
        </p:nvSpPr>
        <p:spPr>
          <a:xfrm>
            <a:off x="6026990" y="3647594"/>
            <a:ext cx="2397000" cy="54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9pPr>
          </a:lstStyle>
          <a:p>
            <a:pPr marL="0" indent="0" algn="ctr">
              <a:buClr>
                <a:schemeClr val="bg2"/>
              </a:buClr>
              <a:buNone/>
            </a:pPr>
            <a:r>
              <a:rPr lang="en-US" dirty="0">
                <a:solidFill>
                  <a:srgbClr val="000000"/>
                </a:solidFill>
                <a:latin typeface="Cinzel Decorative" panose="020B0604020202020204" charset="0"/>
              </a:rPr>
              <a:t>Class Wise Revenue</a:t>
            </a:r>
          </a:p>
        </p:txBody>
      </p:sp>
      <p:sp>
        <p:nvSpPr>
          <p:cNvPr id="8" name="Google Shape;920;p49">
            <a:extLst>
              <a:ext uri="{FF2B5EF4-FFF2-40B4-BE49-F238E27FC236}">
                <a16:creationId xmlns:a16="http://schemas.microsoft.com/office/drawing/2014/main" id="{804B8110-2434-63B2-7C1F-78F3399028D3}"/>
              </a:ext>
            </a:extLst>
          </p:cNvPr>
          <p:cNvSpPr txBox="1">
            <a:spLocks/>
          </p:cNvSpPr>
          <p:nvPr/>
        </p:nvSpPr>
        <p:spPr>
          <a:xfrm>
            <a:off x="6026990" y="2841064"/>
            <a:ext cx="2397000" cy="54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9pPr>
          </a:lstStyle>
          <a:p>
            <a:pPr marL="0" indent="0" algn="ctr">
              <a:buClr>
                <a:schemeClr val="bg2"/>
              </a:buClr>
              <a:buNone/>
            </a:pPr>
            <a:r>
              <a:rPr lang="en-US" dirty="0">
                <a:solidFill>
                  <a:srgbClr val="000000"/>
                </a:solidFill>
                <a:latin typeface="Cinzel Decorative" panose="020B0604020202020204" charset="0"/>
              </a:rPr>
              <a:t>Trend Analysis</a:t>
            </a:r>
          </a:p>
        </p:txBody>
      </p:sp>
      <p:sp>
        <p:nvSpPr>
          <p:cNvPr id="10" name="Google Shape;920;p49">
            <a:extLst>
              <a:ext uri="{FF2B5EF4-FFF2-40B4-BE49-F238E27FC236}">
                <a16:creationId xmlns:a16="http://schemas.microsoft.com/office/drawing/2014/main" id="{00A8AF1B-5C5A-32A9-BA84-5BF673A5ED25}"/>
              </a:ext>
            </a:extLst>
          </p:cNvPr>
          <p:cNvSpPr txBox="1">
            <a:spLocks/>
          </p:cNvSpPr>
          <p:nvPr/>
        </p:nvSpPr>
        <p:spPr>
          <a:xfrm>
            <a:off x="4718583" y="4404657"/>
            <a:ext cx="2397000" cy="54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1097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9pPr>
          </a:lstStyle>
          <a:p>
            <a:pPr marL="0" indent="0" algn="ctr">
              <a:buClr>
                <a:schemeClr val="bg2"/>
              </a:buClr>
              <a:buNone/>
            </a:pPr>
            <a:r>
              <a:rPr lang="en-US" dirty="0">
                <a:solidFill>
                  <a:srgbClr val="000000"/>
                </a:solidFill>
                <a:latin typeface="Cinzel Decorative" panose="020B0604020202020204" charset="0"/>
              </a:rPr>
              <a:t>Weekly Trend – Key Metrics</a:t>
            </a:r>
            <a:endParaRPr lang="en-IN" dirty="0">
              <a:solidFill>
                <a:srgbClr val="000000"/>
              </a:solidFill>
              <a:latin typeface="Cinzel Decorative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535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 txBox="1">
            <a:spLocks noGrp="1"/>
          </p:cNvSpPr>
          <p:nvPr>
            <p:ph type="title"/>
          </p:nvPr>
        </p:nvSpPr>
        <p:spPr>
          <a:xfrm>
            <a:off x="1528265" y="0"/>
            <a:ext cx="4856207" cy="6223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chemeClr val="bg1">
                    <a:lumMod val="20000"/>
                    <a:lumOff val="80000"/>
                  </a:schemeClr>
                </a:solidFill>
              </a:rPr>
              <a:t>E</a:t>
            </a:r>
            <a:r>
              <a:rPr lang="en" sz="2400" b="1" dirty="0">
                <a:solidFill>
                  <a:schemeClr val="bg1">
                    <a:lumMod val="20000"/>
                    <a:lumOff val="80000"/>
                  </a:schemeClr>
                </a:solidFill>
              </a:rPr>
              <a:t>xcel dashboard</a:t>
            </a:r>
            <a:endParaRPr sz="2400" b="1" dirty="0">
              <a:solidFill>
                <a:schemeClr val="bg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0" name="Google Shape;330;p33"/>
          <p:cNvSpPr txBox="1">
            <a:spLocks noGrp="1"/>
          </p:cNvSpPr>
          <p:nvPr>
            <p:ph type="subTitle" idx="1"/>
          </p:nvPr>
        </p:nvSpPr>
        <p:spPr>
          <a:xfrm>
            <a:off x="138793" y="842808"/>
            <a:ext cx="3384992" cy="4153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 This dashboard provides a comprehensive</a:t>
            </a:r>
          </a:p>
          <a:p>
            <a:r>
              <a:rPr lang="en-US" sz="1100" dirty="0">
                <a:solidFill>
                  <a:schemeClr val="tx2"/>
                </a:solidFill>
              </a:rPr>
              <a:t>overview of the hospitality business performance,</a:t>
            </a:r>
          </a:p>
          <a:p>
            <a:r>
              <a:rPr lang="en-US" sz="1100" dirty="0">
                <a:solidFill>
                  <a:schemeClr val="tx2"/>
                </a:solidFill>
              </a:rPr>
              <a:t>highlighting key metrics across cities, room</a:t>
            </a:r>
          </a:p>
          <a:p>
            <a:r>
              <a:rPr lang="en-US" sz="1100" dirty="0">
                <a:solidFill>
                  <a:schemeClr val="tx2"/>
                </a:solidFill>
              </a:rPr>
              <a:t>categories, revenue classes, and booking trends.</a:t>
            </a:r>
          </a:p>
          <a:p>
            <a:r>
              <a:rPr lang="en-US" sz="1100" dirty="0">
                <a:solidFill>
                  <a:schemeClr val="tx2"/>
                </a:solidFill>
              </a:rPr>
              <a:t>Key Metrics</a:t>
            </a:r>
          </a:p>
          <a:p>
            <a:r>
              <a:rPr lang="en-US" sz="1100" dirty="0">
                <a:solidFill>
                  <a:schemeClr val="tx2"/>
                </a:solidFill>
              </a:rPr>
              <a:t>Total Revenue: ₹200.75 Cr</a:t>
            </a:r>
          </a:p>
          <a:p>
            <a:r>
              <a:rPr lang="en-US" sz="1100" dirty="0">
                <a:solidFill>
                  <a:schemeClr val="tx2"/>
                </a:solidFill>
              </a:rPr>
              <a:t>Revenue Realized: ₹170.87 Cr</a:t>
            </a:r>
          </a:p>
          <a:p>
            <a:r>
              <a:rPr lang="en-US" sz="1100" dirty="0">
                <a:solidFill>
                  <a:schemeClr val="tx2"/>
                </a:solidFill>
              </a:rPr>
              <a:t>Total Bookings: 1,34,590</a:t>
            </a:r>
          </a:p>
          <a:p>
            <a:r>
              <a:rPr lang="en-US" sz="1100" dirty="0">
                <a:solidFill>
                  <a:schemeClr val="tx2"/>
                </a:solidFill>
              </a:rPr>
              <a:t>Utilized Capacity: 2,32,576</a:t>
            </a:r>
          </a:p>
          <a:p>
            <a:r>
              <a:rPr lang="en-US" sz="1100" dirty="0">
                <a:solidFill>
                  <a:schemeClr val="tx2"/>
                </a:solidFill>
              </a:rPr>
              <a:t>Occupancy Rate: 57.87%</a:t>
            </a:r>
          </a:p>
          <a:p>
            <a:r>
              <a:rPr lang="en-US" sz="1100" dirty="0">
                <a:solidFill>
                  <a:schemeClr val="tx2"/>
                </a:solidFill>
              </a:rPr>
              <a:t>Cancellation Rate: 24.83%</a:t>
            </a:r>
          </a:p>
          <a:p>
            <a:endParaRPr lang="en-US" sz="1100" dirty="0">
              <a:solidFill>
                <a:schemeClr val="tx2"/>
              </a:solidFill>
            </a:endParaRPr>
          </a:p>
          <a:p>
            <a:r>
              <a:rPr lang="en-US" sz="1100" dirty="0">
                <a:solidFill>
                  <a:schemeClr val="tx2"/>
                </a:solidFill>
              </a:rPr>
              <a:t>Insights</a:t>
            </a:r>
          </a:p>
          <a:p>
            <a:r>
              <a:rPr lang="en-US" sz="1100" dirty="0">
                <a:solidFill>
                  <a:schemeClr val="tx2"/>
                </a:solidFill>
              </a:rPr>
              <a:t>City-Wise Revenue Performance</a:t>
            </a:r>
          </a:p>
          <a:p>
            <a:r>
              <a:rPr lang="en-US" sz="1100" dirty="0">
                <a:solidFill>
                  <a:schemeClr val="tx2"/>
                </a:solidFill>
              </a:rPr>
              <a:t>Mumbai: ₹784.87M (Highest)</a:t>
            </a:r>
          </a:p>
          <a:p>
            <a:r>
              <a:rPr lang="en-US" sz="1100" dirty="0">
                <a:solidFill>
                  <a:schemeClr val="tx2"/>
                </a:solidFill>
              </a:rPr>
              <a:t>Followed by Bangalore, Hyderabad, and Delhi.</a:t>
            </a:r>
          </a:p>
          <a:p>
            <a:r>
              <a:rPr lang="en-US" sz="1100" dirty="0">
                <a:solidFill>
                  <a:schemeClr val="tx2"/>
                </a:solidFill>
              </a:rPr>
              <a:t>Top Performing Hotels</a:t>
            </a:r>
          </a:p>
          <a:p>
            <a:r>
              <a:rPr lang="en-US" sz="1100" dirty="0">
                <a:solidFill>
                  <a:schemeClr val="tx2"/>
                </a:solidFill>
              </a:rPr>
              <a:t>Shodwe Bay: ₹260.65M</a:t>
            </a:r>
          </a:p>
          <a:p>
            <a:r>
              <a:rPr lang="en-US" sz="1100" dirty="0">
                <a:solidFill>
                  <a:schemeClr val="tx2"/>
                </a:solidFill>
              </a:rPr>
              <a:t>Shodwe Seasons: ₹66.13M</a:t>
            </a:r>
          </a:p>
          <a:p>
            <a:r>
              <a:rPr lang="en-US" sz="1100" dirty="0">
                <a:solidFill>
                  <a:schemeClr val="tx2"/>
                </a:solidFill>
              </a:rPr>
              <a:t>Shodwe Exotica: ₹320.31M</a:t>
            </a:r>
          </a:p>
          <a:p>
            <a:r>
              <a:rPr lang="en-US" sz="1100" dirty="0">
                <a:solidFill>
                  <a:schemeClr val="tx2"/>
                </a:solidFill>
              </a:rPr>
              <a:t>Contribution from 6 hotels is visualized via a donut</a:t>
            </a:r>
          </a:p>
          <a:p>
            <a:r>
              <a:rPr lang="en-US" sz="1100" dirty="0">
                <a:solidFill>
                  <a:schemeClr val="tx2"/>
                </a:solidFill>
              </a:rPr>
              <a:t>chart.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54EC00-C0EC-94B2-5A75-0598B2D097CE}"/>
              </a:ext>
            </a:extLst>
          </p:cNvPr>
          <p:cNvSpPr txBox="1"/>
          <p:nvPr/>
        </p:nvSpPr>
        <p:spPr>
          <a:xfrm>
            <a:off x="273289" y="531603"/>
            <a:ext cx="2041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inzel Decorative" panose="020B0604020202020204" charset="0"/>
              </a:rPr>
              <a:t>About dashboard</a:t>
            </a:r>
            <a:endParaRPr lang="en-IN" dirty="0">
              <a:solidFill>
                <a:schemeClr val="bg2"/>
              </a:solidFill>
              <a:latin typeface="Cinzel Decorative" panose="020B0604020202020204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AC1AE0-B81F-EC66-7732-DBEB71217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312" y="535259"/>
            <a:ext cx="5605347" cy="44902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53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8A648C4-6204-609A-A5BE-A8E0B044E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30728"/>
            <a:ext cx="4212770" cy="4122965"/>
          </a:xfrm>
        </p:spPr>
        <p:txBody>
          <a:bodyPr/>
          <a:lstStyle/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This dashboard presents a detailed view of hotel revenue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performance and booking patterns across multiple cities an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 categories.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Key Metrics</a:t>
            </a:r>
          </a:p>
          <a:p>
            <a:endParaRPr lang="en-US" sz="1100" dirty="0">
              <a:solidFill>
                <a:schemeClr val="bg2"/>
              </a:solidFill>
              <a:latin typeface="Josefin Sans Light" pitchFamily="2" charset="0"/>
            </a:endParaRP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Total Revenue: ₹2.01B  Revenue Realized: ₹1.71B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Occupancy Rate: 57.87%  Cancellation Rate: 24.83%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Total Bookings: 134,590  Utilized Capacity: 232,576</a:t>
            </a:r>
          </a:p>
          <a:p>
            <a:endParaRPr lang="en-US" sz="1100" dirty="0">
              <a:solidFill>
                <a:schemeClr val="bg2"/>
              </a:solidFill>
              <a:latin typeface="Josefin Sans Light" pitchFamily="2" charset="0"/>
            </a:endParaRP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Insights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Top City: Mumbai leads with ₹784.87M revenue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Top Class: Elite rooms generate the highest revenue (₹658.59M)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Booking Behavior: 82.46% of guests checked out successfully, with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minimal no-shows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Revenue by Day Type: Weekdays dominate with ₹1.37B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compared to ₹546.59M on weekends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Category Trends: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Luxury Segment: Highest in Mumbai (₹484.81M)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Business Segment: Strong in Mumbai (₹300.06M) and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Bangalore (₹178.43M)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Hotel Performance: Shodwe Exotica (₹320.31M) and Shodwe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Palace (₹304.08M) lead revenue generation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Weekly Trend: Stable weekly performance with peaks around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Week 26–28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6EDA9A-534C-5E10-2A7A-85965A1CE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649" y="30713"/>
            <a:ext cx="3852000" cy="496596"/>
          </a:xfrm>
        </p:spPr>
        <p:txBody>
          <a:bodyPr/>
          <a:lstStyle/>
          <a:p>
            <a:r>
              <a:rPr lang="en-US" sz="2400" b="1" dirty="0"/>
              <a:t>Tableau dashboard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C0573-4AB7-2757-E46D-8B8D57F240AF}"/>
              </a:ext>
            </a:extLst>
          </p:cNvPr>
          <p:cNvSpPr txBox="1"/>
          <p:nvPr/>
        </p:nvSpPr>
        <p:spPr>
          <a:xfrm>
            <a:off x="163286" y="602597"/>
            <a:ext cx="2653393" cy="310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inzel Decorative" panose="020B0604020202020204" charset="0"/>
              </a:rPr>
              <a:t>About dashboard</a:t>
            </a:r>
            <a:endParaRPr lang="en-IN" dirty="0">
              <a:solidFill>
                <a:schemeClr val="bg2"/>
              </a:solidFill>
              <a:latin typeface="Cinzel Decorative" panose="020B060402020202020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224F39-51B0-F816-22FF-969294398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214" y="557561"/>
            <a:ext cx="4958575" cy="2259980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9F513855-726F-6564-E220-56DF2C8CE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517" y="2958790"/>
            <a:ext cx="4928838" cy="209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67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53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A338B-EAA8-0962-93DD-9DA553143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112FAF9-5C7E-D9F4-2A52-7E922947EBE7}"/>
              </a:ext>
            </a:extLst>
          </p:cNvPr>
          <p:cNvSpPr txBox="1"/>
          <p:nvPr/>
        </p:nvSpPr>
        <p:spPr>
          <a:xfrm>
            <a:off x="159203" y="630300"/>
            <a:ext cx="3331029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/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1. Total Revenue Realized: ₹1,70,87,71,229</a:t>
            </a:r>
            <a:b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</a:br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→ Actual income from completed bookings.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2. Occupancy Rate: 57.86%</a:t>
            </a:r>
            <a:b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</a:br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→ Percentage of rooms occupied.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3. Cancellation Rate: 24.83%</a:t>
            </a:r>
            <a:b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</a:br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→ Share of bookings that were cancelled.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4. Total Revenue Generated: ₹2,00,75,46,215</a:t>
            </a:r>
            <a:b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</a:br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→ Total potential revenue from all bookings.</a:t>
            </a:r>
          </a:p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254642-5DDF-D575-B014-9C88DDEC8534}"/>
              </a:ext>
            </a:extLst>
          </p:cNvPr>
          <p:cNvSpPr txBox="1"/>
          <p:nvPr/>
        </p:nvSpPr>
        <p:spPr>
          <a:xfrm>
            <a:off x="2688174" y="0"/>
            <a:ext cx="3192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lt1"/>
              </a:buClr>
              <a:buSzPts val="3000"/>
            </a:pPr>
            <a:r>
              <a:rPr lang="en-US" sz="2400" b="1" dirty="0">
                <a:solidFill>
                  <a:schemeClr val="lt1"/>
                </a:solidFill>
                <a:latin typeface="Cinzel Decorative"/>
                <a:sym typeface="Cinzel Decorative"/>
              </a:rPr>
              <a:t>My</a:t>
            </a:r>
            <a:r>
              <a:rPr lang="en-US" sz="2400" dirty="0">
                <a:solidFill>
                  <a:schemeClr val="lt1"/>
                </a:solidFill>
                <a:latin typeface="Cinzel Decorative"/>
                <a:sym typeface="Cinzel Decorative"/>
              </a:rPr>
              <a:t> </a:t>
            </a:r>
            <a:r>
              <a:rPr lang="en-US" sz="2400" b="1" dirty="0">
                <a:solidFill>
                  <a:schemeClr val="lt1"/>
                </a:solidFill>
                <a:latin typeface="Cinzel Decorative"/>
                <a:sym typeface="Cinzel Decorative"/>
              </a:rPr>
              <a:t>SQL</a:t>
            </a:r>
            <a:r>
              <a:rPr lang="en-US" sz="2400" dirty="0">
                <a:solidFill>
                  <a:schemeClr val="lt1"/>
                </a:solidFill>
                <a:latin typeface="Cinzel Decorative"/>
                <a:sym typeface="Cinzel Decorative"/>
              </a:rPr>
              <a:t> </a:t>
            </a:r>
            <a:endParaRPr lang="en-IN" sz="2400" dirty="0">
              <a:solidFill>
                <a:schemeClr val="lt1"/>
              </a:solidFill>
              <a:latin typeface="Cinzel Decorative"/>
              <a:sym typeface="Cinzel Decorative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6EE1DB-B2C5-784C-6E4E-7AB379088C8E}"/>
              </a:ext>
            </a:extLst>
          </p:cNvPr>
          <p:cNvSpPr txBox="1"/>
          <p:nvPr/>
        </p:nvSpPr>
        <p:spPr>
          <a:xfrm>
            <a:off x="159203" y="2325964"/>
            <a:ext cx="4029072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inzel Decorative" panose="020B0604020202020204" charset="0"/>
              </a:rPr>
              <a:t>Straight</a:t>
            </a:r>
          </a:p>
          <a:p>
            <a:endParaRPr lang="en-US" sz="1100" dirty="0">
              <a:solidFill>
                <a:schemeClr val="bg2"/>
              </a:solidFill>
              <a:latin typeface="Josefin Sans Light" pitchFamily="2" charset="0"/>
            </a:endParaRP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Total Revenue Realized: ₹1,70,87,71,229 – This represents the actual income earned from all successfully completed bookings, showing the true revenue realized by the hotel.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Occupancy Rate: 57.86% – This indicates the percentage of rooms occupied compared to total available capacity, reflecting how efficiently the hotel utilizes its rooms.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Cancellation Rate: 24.83% – This shows the proportion of bookings that were cancelled, helping assess customer behavior and the impact of cancellations on overall performance.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Total Revenue Generated: ₹2,00,75,46,215 – This includes all revenue from both completed and pending bookings, highlighting the hotel’s total potential income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4324B4-4F07-59C6-9E10-9FC5CB9498D6}"/>
              </a:ext>
            </a:extLst>
          </p:cNvPr>
          <p:cNvSpPr txBox="1"/>
          <p:nvPr/>
        </p:nvSpPr>
        <p:spPr>
          <a:xfrm>
            <a:off x="332694" y="476411"/>
            <a:ext cx="3192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inzel Decorative" panose="020B0604020202020204" charset="0"/>
              </a:rPr>
              <a:t>About KPI’S</a:t>
            </a:r>
            <a:endParaRPr lang="en-IN" dirty="0">
              <a:solidFill>
                <a:schemeClr val="bg2"/>
              </a:solidFill>
              <a:latin typeface="Cinzel Decorative" panose="020B0604020202020204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E8728F-9B5B-4B20-1E23-EC5F9F7FA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043" y="505522"/>
            <a:ext cx="5010615" cy="456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45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535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53D619-25A1-A248-4B64-54B0E7D5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F433E7A-2B63-EC83-97B3-1DA3F2AE1EFF}"/>
              </a:ext>
            </a:extLst>
          </p:cNvPr>
          <p:cNvSpPr txBox="1"/>
          <p:nvPr/>
        </p:nvSpPr>
        <p:spPr>
          <a:xfrm>
            <a:off x="2688174" y="0"/>
            <a:ext cx="3192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lt1"/>
              </a:buClr>
              <a:buSzPts val="3000"/>
            </a:pPr>
            <a:r>
              <a:rPr lang="en-US" sz="2400" b="1" dirty="0">
                <a:solidFill>
                  <a:schemeClr val="lt1"/>
                </a:solidFill>
                <a:latin typeface="Cinzel Decorative"/>
                <a:sym typeface="Cinzel Decorative"/>
              </a:rPr>
              <a:t>My</a:t>
            </a:r>
            <a:r>
              <a:rPr lang="en-US" sz="2400" dirty="0">
                <a:solidFill>
                  <a:schemeClr val="lt1"/>
                </a:solidFill>
                <a:latin typeface="Cinzel Decorative"/>
                <a:sym typeface="Cinzel Decorative"/>
              </a:rPr>
              <a:t> </a:t>
            </a:r>
            <a:r>
              <a:rPr lang="en-US" sz="2400" b="1" dirty="0">
                <a:solidFill>
                  <a:schemeClr val="lt1"/>
                </a:solidFill>
                <a:latin typeface="Cinzel Decorative"/>
                <a:sym typeface="Cinzel Decorative"/>
              </a:rPr>
              <a:t>SQL</a:t>
            </a:r>
            <a:r>
              <a:rPr lang="en-US" sz="2400" dirty="0">
                <a:solidFill>
                  <a:schemeClr val="lt1"/>
                </a:solidFill>
                <a:latin typeface="Cinzel Decorative"/>
                <a:sym typeface="Cinzel Decorative"/>
              </a:rPr>
              <a:t> </a:t>
            </a:r>
            <a:endParaRPr lang="en-IN" sz="2400" dirty="0">
              <a:solidFill>
                <a:schemeClr val="lt1"/>
              </a:solidFill>
              <a:latin typeface="Cinzel Decorative"/>
              <a:sym typeface="Cinzel Decorative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8F3621-CAFD-CCE0-AA6F-AB6352396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16" y="577551"/>
            <a:ext cx="5270808" cy="4360209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42118A-8BF3-9F3B-1C40-E585153B3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966" y="579863"/>
            <a:ext cx="3501483" cy="434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67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53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5C21D2-FCE0-7D59-8856-C93B3E534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628" y="0"/>
            <a:ext cx="4392303" cy="480268"/>
          </a:xfrm>
        </p:spPr>
        <p:txBody>
          <a:bodyPr/>
          <a:lstStyle/>
          <a:p>
            <a:r>
              <a:rPr lang="en-US" sz="2400" b="1" dirty="0"/>
              <a:t>Power bi dashboard</a:t>
            </a:r>
            <a:endParaRPr lang="en-IN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4A8EE9-E7B6-1C59-8BBE-CBFAF1F08024}"/>
              </a:ext>
            </a:extLst>
          </p:cNvPr>
          <p:cNvSpPr txBox="1"/>
          <p:nvPr/>
        </p:nvSpPr>
        <p:spPr>
          <a:xfrm>
            <a:off x="163286" y="955222"/>
            <a:ext cx="339634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This dashboard provides a comprehensive analysis of hotel performance metrics across multiple cities and properties.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Key highlights include:</a:t>
            </a:r>
          </a:p>
          <a:p>
            <a:endParaRPr lang="en-US" sz="1100" dirty="0">
              <a:solidFill>
                <a:schemeClr val="bg2"/>
              </a:solidFill>
              <a:latin typeface="Josefin Sans Light" pitchFamily="2" charset="0"/>
            </a:endParaRP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Total Revenue: ₹2.01B with 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Revenue Realized of ₹1.71B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Occupancy Rate: 57.87%  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Cancellation Rate: 24.83%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Total Bookings: 134,590  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Utilized Capacity: 232,576</a:t>
            </a:r>
          </a:p>
          <a:p>
            <a:endParaRPr lang="en-US" sz="1100" dirty="0">
              <a:solidFill>
                <a:schemeClr val="bg2"/>
              </a:solidFill>
              <a:latin typeface="Josefin Sans Light" pitchFamily="2" charset="0"/>
            </a:endParaRP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Insights: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Top Performing City: Mumbai (₹668.64M revenue)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Highest Revenue Class: Elite (₹560.27M)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Leading Hotel: Shodwe Exotica (₹320.31M)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Category Trend: Luxury segment dominates with ₹1052.75M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Customer Behavior: 82.5% of bookings checked out successfully</a:t>
            </a:r>
          </a:p>
          <a:p>
            <a:r>
              <a:rPr lang="en-US" sz="1100" dirty="0">
                <a:solidFill>
                  <a:schemeClr val="bg2"/>
                </a:solidFill>
                <a:latin typeface="Josefin Sans Light" pitchFamily="2" charset="0"/>
              </a:rPr>
              <a:t>Revenue Pattern: Weekday bookings (₹1171.37M) outperform weekends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B1E297-950B-E148-E225-CC565F3D0ACF}"/>
              </a:ext>
            </a:extLst>
          </p:cNvPr>
          <p:cNvSpPr txBox="1"/>
          <p:nvPr/>
        </p:nvSpPr>
        <p:spPr>
          <a:xfrm>
            <a:off x="163286" y="545582"/>
            <a:ext cx="2188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inzel Decorative" panose="020B0604020202020204" charset="0"/>
              </a:rPr>
              <a:t>About dashboard</a:t>
            </a:r>
            <a:endParaRPr lang="en-IN" dirty="0">
              <a:solidFill>
                <a:schemeClr val="bg2"/>
              </a:solidFill>
              <a:latin typeface="Cinzel Decorative" panose="020B060402020202020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06D841-B042-AA44-746C-C2AB83F7B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745" y="594732"/>
            <a:ext cx="5583045" cy="2378926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93F11F-2FD1-0D07-D273-B44390CCC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311" y="3003394"/>
            <a:ext cx="5620215" cy="205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819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535F"/>
        </a:solidFill>
        <a:effectLst/>
      </p:bgPr>
    </p:bg>
    <p:spTree>
      <p:nvGrpSpPr>
        <p:cNvPr id="1" name="Shape 694">
          <a:extLst>
            <a:ext uri="{FF2B5EF4-FFF2-40B4-BE49-F238E27FC236}">
              <a16:creationId xmlns:a16="http://schemas.microsoft.com/office/drawing/2014/main" id="{5DEE2D48-B7BA-1CF2-1B89-9FB32369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2">
            <a:extLst>
              <a:ext uri="{FF2B5EF4-FFF2-40B4-BE49-F238E27FC236}">
                <a16:creationId xmlns:a16="http://schemas.microsoft.com/office/drawing/2014/main" id="{AA1448DE-6FE1-FC0D-D7AA-38458D99B4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K</a:t>
            </a:r>
            <a:r>
              <a:rPr lang="en" b="1" dirty="0"/>
              <a:t>ey takeaways</a:t>
            </a:r>
            <a:endParaRPr b="1" dirty="0"/>
          </a:p>
        </p:txBody>
      </p:sp>
      <p:sp>
        <p:nvSpPr>
          <p:cNvPr id="698" name="Google Shape;698;p42">
            <a:extLst>
              <a:ext uri="{FF2B5EF4-FFF2-40B4-BE49-F238E27FC236}">
                <a16:creationId xmlns:a16="http://schemas.microsoft.com/office/drawing/2014/main" id="{62CE665E-70EB-0FC4-E5A8-C8BA954DB64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28600" y="1122489"/>
            <a:ext cx="8686800" cy="33653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b="1" dirty="0"/>
              <a:t>Data-Driven Insights</a:t>
            </a:r>
            <a:r>
              <a:rPr lang="en-US" dirty="0"/>
              <a:t>: Hospitality analytics helps track and improve hotel performance through data from Excel,</a:t>
            </a:r>
          </a:p>
          <a:p>
            <a:pPr algn="l"/>
            <a:r>
              <a:rPr lang="en-US" dirty="0"/>
              <a:t>SQL, Power BI, and Tableau.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Revenue Optimization</a:t>
            </a:r>
            <a:r>
              <a:rPr lang="en-US" dirty="0"/>
              <a:t>: Achieved ₹1.70B realized revenue with potential of ₹2.00B total revenue.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Operational Efficiency</a:t>
            </a:r>
            <a:r>
              <a:rPr lang="en-US" dirty="0"/>
              <a:t>: Occupancy Rate of 57.86% shows moderate utilization; opportunities exist to boost</a:t>
            </a:r>
          </a:p>
          <a:p>
            <a:pPr algn="l"/>
            <a:r>
              <a:rPr lang="en-US" dirty="0"/>
              <a:t>booking conversion.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Customer Behavior</a:t>
            </a:r>
            <a:r>
              <a:rPr lang="en-US" dirty="0"/>
              <a:t>: 24.83% cancellation rate highlights the need for better booking policies and retention</a:t>
            </a:r>
          </a:p>
          <a:p>
            <a:pPr algn="l"/>
            <a:r>
              <a:rPr lang="en-US" dirty="0"/>
              <a:t>strategies.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Top Performers</a:t>
            </a:r>
            <a:r>
              <a:rPr lang="en-US" dirty="0"/>
              <a:t>: Mumbai and Shodwe Exotica lead in revenue generation and occupancy.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Strategic Value</a:t>
            </a:r>
            <a:r>
              <a:rPr lang="en-US" dirty="0"/>
              <a:t>: Interactive dashboards enable faster decision-making, improving profitability and resource</a:t>
            </a:r>
          </a:p>
          <a:p>
            <a:pPr algn="l"/>
            <a:r>
              <a:rPr lang="en-US" dirty="0"/>
              <a:t>use.</a:t>
            </a:r>
          </a:p>
        </p:txBody>
      </p:sp>
    </p:spTree>
    <p:extLst>
      <p:ext uri="{BB962C8B-B14F-4D97-AF65-F5344CB8AC3E}">
        <p14:creationId xmlns:p14="http://schemas.microsoft.com/office/powerpoint/2010/main" val="2661330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535F"/>
        </a:solidFill>
        <a:effectLst/>
      </p:bgPr>
    </p:bg>
    <p:spTree>
      <p:nvGrpSpPr>
        <p:cNvPr id="1" name="Shape 694">
          <a:extLst>
            <a:ext uri="{FF2B5EF4-FFF2-40B4-BE49-F238E27FC236}">
              <a16:creationId xmlns:a16="http://schemas.microsoft.com/office/drawing/2014/main" id="{17FB3B99-0AE5-3C6A-FA14-AD588BDBF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2">
            <a:extLst>
              <a:ext uri="{FF2B5EF4-FFF2-40B4-BE49-F238E27FC236}">
                <a16:creationId xmlns:a16="http://schemas.microsoft.com/office/drawing/2014/main" id="{2235D822-EFC2-29E3-05A2-B05B6005EF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recommendations</a:t>
            </a:r>
            <a:endParaRPr b="1" dirty="0"/>
          </a:p>
        </p:txBody>
      </p:sp>
      <p:sp>
        <p:nvSpPr>
          <p:cNvPr id="698" name="Google Shape;698;p42">
            <a:extLst>
              <a:ext uri="{FF2B5EF4-FFF2-40B4-BE49-F238E27FC236}">
                <a16:creationId xmlns:a16="http://schemas.microsoft.com/office/drawing/2014/main" id="{5602B5D6-4F63-C53D-9CBE-5C12A32E0AC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28600" y="1122489"/>
            <a:ext cx="8686800" cy="33653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l">
              <a:buClr>
                <a:schemeClr val="bg2"/>
              </a:buClr>
            </a:pPr>
            <a:r>
              <a:rPr lang="en-US" sz="1800" b="1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Enhance Customer Service:</a:t>
            </a:r>
          </a:p>
          <a:p>
            <a:pPr marL="139700" indent="0" algn="l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Implement Al-driven chatbots for 24/7 customer support.</a:t>
            </a:r>
          </a:p>
          <a:p>
            <a:pPr marL="139700" indent="0" algn="l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Train staff on customer engagement and conflict resolution.</a:t>
            </a:r>
          </a:p>
          <a:p>
            <a:pPr marL="0" indent="0" algn="l">
              <a:buClr>
                <a:schemeClr val="bg2"/>
              </a:buClr>
            </a:pPr>
            <a:r>
              <a:rPr lang="en-US" sz="1800" b="1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Market Analysis and Adaptation:</a:t>
            </a:r>
          </a:p>
          <a:p>
            <a:pPr marL="139700" indent="0" algn="l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Conduct market research to identify customer needs and preferences.</a:t>
            </a:r>
          </a:p>
          <a:p>
            <a:pPr marL="139700" indent="0" algn="l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Adjust strategies based on competitive analysis and market trends.</a:t>
            </a:r>
          </a:p>
          <a:p>
            <a:pPr marL="0" indent="0" algn="l">
              <a:buClr>
                <a:schemeClr val="bg2"/>
              </a:buClr>
            </a:pPr>
            <a:r>
              <a:rPr lang="en-US" sz="1800" b="1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Increase Sales and Retention:</a:t>
            </a:r>
          </a:p>
          <a:p>
            <a:pPr marL="139700" indent="0" algn="l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Launch personalized marketing campaigns based on customer data.</a:t>
            </a:r>
          </a:p>
          <a:p>
            <a:pPr marL="139700" indent="0" algn="l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Introduce loyalty programs to reward long-term customers.</a:t>
            </a:r>
          </a:p>
          <a:p>
            <a:pPr marL="139700" indent="0" algn="l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Increase sales Delhi compared to all other cities, for increase sales focus on Business Category.</a:t>
            </a:r>
          </a:p>
          <a:p>
            <a:pPr marL="0" indent="0" algn="l">
              <a:buClr>
                <a:schemeClr val="bg2"/>
              </a:buClr>
            </a:pPr>
            <a:r>
              <a:rPr lang="en-US" sz="1800" b="1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Employee Engagement:</a:t>
            </a:r>
          </a:p>
          <a:p>
            <a:pPr marL="139700" indent="0" algn="l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Create a positive work environment to boost employee ability to work more.</a:t>
            </a:r>
          </a:p>
          <a:p>
            <a:pPr marL="139700" indent="0" algn="l"/>
            <a:r>
              <a:rPr lang="en-US" sz="1800" dirty="0">
                <a:solidFill>
                  <a:schemeClr val="bg1">
                    <a:lumMod val="75000"/>
                  </a:schemeClr>
                </a:solidFill>
                <a:latin typeface="Josefin Sans Light" pitchFamily="2" charset="0"/>
                <a:ea typeface="Calibri" panose="020F0502020204030204" pitchFamily="34" charset="0"/>
                <a:cs typeface="Calibri" panose="020F0502020204030204" pitchFamily="34" charset="0"/>
              </a:rPr>
              <a:t>Introduce employee recognition programs to retain top talent.</a:t>
            </a:r>
          </a:p>
        </p:txBody>
      </p:sp>
    </p:spTree>
    <p:extLst>
      <p:ext uri="{BB962C8B-B14F-4D97-AF65-F5344CB8AC3E}">
        <p14:creationId xmlns:p14="http://schemas.microsoft.com/office/powerpoint/2010/main" val="3283397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535F"/>
        </a:solidFill>
        <a:effectLst/>
      </p:bgPr>
    </p:bg>
    <p:spTree>
      <p:nvGrpSpPr>
        <p:cNvPr id="1" name="Shape 694">
          <a:extLst>
            <a:ext uri="{FF2B5EF4-FFF2-40B4-BE49-F238E27FC236}">
              <a16:creationId xmlns:a16="http://schemas.microsoft.com/office/drawing/2014/main" id="{7BFE9BE5-82E1-C74E-F007-24B066F4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2">
            <a:extLst>
              <a:ext uri="{FF2B5EF4-FFF2-40B4-BE49-F238E27FC236}">
                <a16:creationId xmlns:a16="http://schemas.microsoft.com/office/drawing/2014/main" id="{8DFF5EC6-EFCA-37C2-BB48-27363C0092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inzel Decorative" panose="020B0604020202020204" charset="0"/>
              </a:rPr>
              <a:t>conclusion</a:t>
            </a:r>
            <a:endParaRPr b="1" dirty="0">
              <a:latin typeface="Cinzel Decorative" panose="020B0604020202020204" charset="0"/>
            </a:endParaRPr>
          </a:p>
        </p:txBody>
      </p:sp>
      <p:sp>
        <p:nvSpPr>
          <p:cNvPr id="698" name="Google Shape;698;p42">
            <a:extLst>
              <a:ext uri="{FF2B5EF4-FFF2-40B4-BE49-F238E27FC236}">
                <a16:creationId xmlns:a16="http://schemas.microsoft.com/office/drawing/2014/main" id="{77A5B348-7AB8-08C8-A03D-25722ACCBA7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1950" y="903063"/>
            <a:ext cx="8686800" cy="33373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dirty="0"/>
              <a:t>Shodwe Hotel – Hospitality Analytics, demonstrates how data can transform decision-making in</a:t>
            </a:r>
          </a:p>
          <a:p>
            <a:pPr algn="l"/>
            <a:r>
              <a:rPr lang="en-US" dirty="0"/>
              <a:t> the hotel industry.</a:t>
            </a:r>
          </a:p>
          <a:p>
            <a:pPr algn="l"/>
            <a:r>
              <a:rPr lang="en-US" dirty="0"/>
              <a:t> By integrating SQL, Excel, Power BI, and Tableau, we successfully analyzed bookings,</a:t>
            </a:r>
          </a:p>
          <a:p>
            <a:pPr algn="l"/>
            <a:r>
              <a:rPr lang="en-US" dirty="0"/>
              <a:t> revenue, occupancy, and cancellations to uncover key business insights.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The results show that Mumbai and Shodwe Exotica are top performers, with a 57.86% occupancy rate and</a:t>
            </a:r>
          </a:p>
          <a:p>
            <a:pPr algn="l"/>
            <a:r>
              <a:rPr lang="en-US" dirty="0"/>
              <a:t>₹1.70B realized revenue.</a:t>
            </a:r>
          </a:p>
          <a:p>
            <a:pPr algn="l"/>
            <a:r>
              <a:rPr lang="en-US" dirty="0"/>
              <a:t>The analysis also highlights areas for improvement, such as reducing the 24.83% cancellation rate and</a:t>
            </a:r>
          </a:p>
          <a:p>
            <a:pPr algn="l"/>
            <a:r>
              <a:rPr lang="en-US" dirty="0"/>
              <a:t>increasing room utilization.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Overall, our project proves that data-driven analytics not only helps track performance but also supports</a:t>
            </a:r>
          </a:p>
          <a:p>
            <a:pPr algn="l"/>
            <a:r>
              <a:rPr lang="en-US" dirty="0"/>
              <a:t>smarter strategies to maximize profitability, enhance customer satisfaction, and improve operational efficiency</a:t>
            </a:r>
          </a:p>
        </p:txBody>
      </p:sp>
    </p:spTree>
    <p:extLst>
      <p:ext uri="{BB962C8B-B14F-4D97-AF65-F5344CB8AC3E}">
        <p14:creationId xmlns:p14="http://schemas.microsoft.com/office/powerpoint/2010/main" val="2539729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32F"/>
        </a:solidFill>
        <a:effectLst/>
      </p:bgPr>
    </p:bg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53"/>
          <p:cNvSpPr txBox="1">
            <a:spLocks noGrp="1"/>
          </p:cNvSpPr>
          <p:nvPr>
            <p:ph type="title"/>
          </p:nvPr>
        </p:nvSpPr>
        <p:spPr>
          <a:xfrm>
            <a:off x="1284000" y="540000"/>
            <a:ext cx="6576000" cy="10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sp>
        <p:nvSpPr>
          <p:cNvPr id="1000" name="Google Shape;1000;p53"/>
          <p:cNvSpPr txBox="1">
            <a:spLocks noGrp="1"/>
          </p:cNvSpPr>
          <p:nvPr>
            <p:ph type="subTitle" idx="1"/>
          </p:nvPr>
        </p:nvSpPr>
        <p:spPr>
          <a:xfrm>
            <a:off x="1284000" y="1963050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dirty="0"/>
              <a:t>Your Comfort, Our Pleasure.</a:t>
            </a:r>
          </a:p>
        </p:txBody>
      </p:sp>
      <p:sp>
        <p:nvSpPr>
          <p:cNvPr id="1001" name="Google Shape;1001;p53"/>
          <p:cNvSpPr/>
          <p:nvPr/>
        </p:nvSpPr>
        <p:spPr>
          <a:xfrm>
            <a:off x="0" y="3866700"/>
            <a:ext cx="9144000" cy="127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02" name="Google Shape;1002;p53"/>
          <p:cNvCxnSpPr/>
          <p:nvPr/>
        </p:nvCxnSpPr>
        <p:spPr>
          <a:xfrm>
            <a:off x="3811638" y="1852713"/>
            <a:ext cx="1520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8C7631E-7647-EB1C-3CAB-EFA169DAE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62" y="2571750"/>
            <a:ext cx="7715251" cy="22952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xury Hotel Company Profile by Slidesgo">
  <a:themeElements>
    <a:clrScheme name="Simple Light">
      <a:dk1>
        <a:srgbClr val="272727"/>
      </a:dk1>
      <a:lt1>
        <a:srgbClr val="DBD5B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DBD5B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1113</Words>
  <Application>Microsoft Office PowerPoint</Application>
  <PresentationFormat>On-screen Show (16:9)</PresentationFormat>
  <Paragraphs>160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Josefin Sans Light</vt:lpstr>
      <vt:lpstr>Arial</vt:lpstr>
      <vt:lpstr>Bebas Neue</vt:lpstr>
      <vt:lpstr>Cinzel Decorative</vt:lpstr>
      <vt:lpstr>Baskerville Old Face</vt:lpstr>
      <vt:lpstr>Luxury Hotel Company Profile by Slidesgo</vt:lpstr>
      <vt:lpstr>shodwe</vt:lpstr>
      <vt:lpstr>5) Vikrant banode   6) Santosh abithan   7) swagatika satpathy</vt:lpstr>
      <vt:lpstr>Hospitality analytics</vt:lpstr>
      <vt:lpstr>OverView</vt:lpstr>
      <vt:lpstr>Kpi’s</vt:lpstr>
      <vt:lpstr>Excel dashboard</vt:lpstr>
      <vt:lpstr>Tableau dashboard</vt:lpstr>
      <vt:lpstr>PowerPoint Presentation</vt:lpstr>
      <vt:lpstr>PowerPoint Presentation</vt:lpstr>
      <vt:lpstr>Power bi dashboard</vt:lpstr>
      <vt:lpstr>Key takeaways</vt:lpstr>
      <vt:lpstr>recommendations</vt:lpstr>
      <vt:lpstr>conclusion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shodwe</dc:title>
  <dc:creator>Vidhya Jondhale</dc:creator>
  <cp:lastModifiedBy>Deepak Makala</cp:lastModifiedBy>
  <cp:revision>16</cp:revision>
  <dcterms:modified xsi:type="dcterms:W3CDTF">2025-10-15T08:26:41Z</dcterms:modified>
</cp:coreProperties>
</file>